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9" d="100"/>
          <a:sy n="109" d="100"/>
        </p:scale>
        <p:origin x="636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C53407E-1922-41D6-8F80-EDE85C2921C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84B53DAA-9412-450B-8D55-D702C948F39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FAC1F209-EC67-4633-9401-40397D2DA9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769108-4FF3-4C2C-B00D-8F3FE6B81AE9}" type="datetimeFigureOut">
              <a:rPr lang="ru-RU" smtClean="0"/>
              <a:t>28.11.2025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1D7CFA7F-CBE7-4D11-9651-24DBF7B6A8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A676526F-FC95-4618-A9B4-4D1B4945C5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B5939F-C473-4AFD-98E2-B2BD60ECA50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6860015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C059E3D-2F63-4DD4-922B-E5656B8A0F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3940356E-32E1-4A94-BE37-98CBA99D6A3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1F2ECACF-5259-48F6-A8A8-6BF9550B11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769108-4FF3-4C2C-B00D-8F3FE6B81AE9}" type="datetimeFigureOut">
              <a:rPr lang="ru-RU" smtClean="0"/>
              <a:t>28.11.2025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4E6FD96B-110E-4218-BF27-EA489F9F8A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8BFD2222-6835-4A32-8892-B4CD7336A8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B5939F-C473-4AFD-98E2-B2BD60ECA50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3398076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111E863-ECDF-4A22-894C-6CFF9FA034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DF7F0DF4-162C-406F-A20B-0F8DEB1CD29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1CF6A38C-209E-4110-BB55-965145B68A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769108-4FF3-4C2C-B00D-8F3FE6B81AE9}" type="datetimeFigureOut">
              <a:rPr lang="ru-RU" smtClean="0"/>
              <a:t>28.11.2025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1804C1CC-AE71-403A-B144-83CF817B0A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11229F75-51B6-40C8-BF44-0AE14F3261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B5939F-C473-4AFD-98E2-B2BD60ECA50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20747305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B39CAA2-20C4-4820-BB2D-AC099E479E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98AE9F0F-A3DF-4DF0-8C2A-3EB541FA8AB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C1489FB3-4612-4E09-9F12-2E7F7FC5114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64D06B4C-994C-436B-8ED5-08AF96A2E6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769108-4FF3-4C2C-B00D-8F3FE6B81AE9}" type="datetimeFigureOut">
              <a:rPr lang="ru-RU" smtClean="0"/>
              <a:t>28.11.2025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13D87068-C13A-4C6C-89A6-6288B50788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1572A13C-40C1-4FD1-BBEE-56C91AB336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B5939F-C473-4AFD-98E2-B2BD60ECA50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1371360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01F142E-B64C-4C12-9161-DD49EACD1D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81BD1370-04F7-4160-A82E-8480A3919CB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E0FF1AC0-BFAA-4359-A4A8-26BCCB13C75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C9506086-EC45-438A-87F0-D1AC1EC9DDB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9FC4CF63-1816-488D-9DCB-D64C76C624D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>
            <a:extLst>
              <a:ext uri="{FF2B5EF4-FFF2-40B4-BE49-F238E27FC236}">
                <a16:creationId xmlns:a16="http://schemas.microsoft.com/office/drawing/2014/main" id="{B2CCAE46-E68A-4B4C-896F-92800115BA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769108-4FF3-4C2C-B00D-8F3FE6B81AE9}" type="datetimeFigureOut">
              <a:rPr lang="ru-RU" smtClean="0"/>
              <a:t>28.11.2025</a:t>
            </a:fld>
            <a:endParaRPr lang="ru-RU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2F373CA9-D5E6-4AE9-BB95-A4271D9C44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ADC7E877-7B24-48F5-B254-90273B4754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B5939F-C473-4AFD-98E2-B2BD60ECA50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737620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236DBFC-A9DB-435C-9B80-5C2E654982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52598185-5A28-4F04-88B0-F32BDFBD69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769108-4FF3-4C2C-B00D-8F3FE6B81AE9}" type="datetimeFigureOut">
              <a:rPr lang="ru-RU" smtClean="0"/>
              <a:t>28.11.2025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00196282-BDDB-4766-BC8D-8F446C3985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271CCD7F-FC0B-4EB0-BB32-726733D229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B5939F-C473-4AFD-98E2-B2BD60ECA50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1528827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C03AADAE-BB67-42B2-8425-246225C7E5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769108-4FF3-4C2C-B00D-8F3FE6B81AE9}" type="datetimeFigureOut">
              <a:rPr lang="ru-RU" smtClean="0"/>
              <a:t>28.11.2025</a:t>
            </a:fld>
            <a:endParaRPr lang="ru-RU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0C2A4207-231F-42C8-B057-22702C2B29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799ED3AE-ACA5-4158-B808-641590C3E4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B5939F-C473-4AFD-98E2-B2BD60ECA50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3700521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85FCAA7-2FFF-471F-99F9-F281FEDB1A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C1751228-4397-4A1B-AC4F-EE1167E82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843C20F6-99FC-4F8F-9EFF-189BFADC88F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703C3785-7702-4D3F-9BC3-3DEBC738AD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769108-4FF3-4C2C-B00D-8F3FE6B81AE9}" type="datetimeFigureOut">
              <a:rPr lang="ru-RU" smtClean="0"/>
              <a:t>28.11.2025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9C4E541F-228A-46C4-8563-2047F6FE95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2EC0413E-C907-4368-A4E5-3E686F08D5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B5939F-C473-4AFD-98E2-B2BD60ECA50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5338410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E7951B5-71FF-4850-BD1C-DEC7377F4A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CBD9F936-3BCA-4B51-9CF8-F038C127D24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3CB3989F-C534-4707-91CA-D883B5DE595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2D638698-0876-41FD-B69E-5C2A9D304A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769108-4FF3-4C2C-B00D-8F3FE6B81AE9}" type="datetimeFigureOut">
              <a:rPr lang="ru-RU" smtClean="0"/>
              <a:t>28.11.2025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F27DAD19-A9AE-4E41-B8A7-321BB7D313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E49222E8-587E-451B-9DF9-7BBE9E21C9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B5939F-C473-4AFD-98E2-B2BD60ECA50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0469851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461BA4D-983E-4B54-A976-F3775D0F3D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851AF3AE-A08E-4991-863E-7D622A4F714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A6C170BB-A8EE-4A22-9F51-41B443F773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769108-4FF3-4C2C-B00D-8F3FE6B81AE9}" type="datetimeFigureOut">
              <a:rPr lang="ru-RU" smtClean="0"/>
              <a:t>28.11.2025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556B6E1B-A329-4399-8A5D-EE28CF9E49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ED189A6A-5EE0-4CB9-9B1D-8D4F00EDEA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B5939F-C473-4AFD-98E2-B2BD60ECA50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1157388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>
            <a:extLst>
              <a:ext uri="{FF2B5EF4-FFF2-40B4-BE49-F238E27FC236}">
                <a16:creationId xmlns:a16="http://schemas.microsoft.com/office/drawing/2014/main" id="{F517CFC3-9ACE-4862-9970-4BB81F55D76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CAAC2854-98BE-45E5-A60D-0E624C80EDC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EA5BF27B-2812-4446-9F4D-F5B479061E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769108-4FF3-4C2C-B00D-8F3FE6B81AE9}" type="datetimeFigureOut">
              <a:rPr lang="ru-RU" smtClean="0"/>
              <a:t>28.11.2025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78092AA7-9E52-4DDD-9DA0-E23A6B2D30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B0B2FF5D-49DE-4A3E-B4E8-F1915CBA46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B5939F-C473-4AFD-98E2-B2BD60ECA50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39293094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E66FD78-CF44-4A23-9A95-733A2F67E4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DE115649-17CA-49F1-9132-90DCBCD1C8D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6A2F42D0-773B-45DB-A158-E039F58935C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B769108-4FF3-4C2C-B00D-8F3FE6B81AE9}" type="datetimeFigureOut">
              <a:rPr lang="ru-RU" smtClean="0"/>
              <a:t>28.11.2025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E3A46DF8-60A5-44F4-86F1-1893C6CEE2B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6DEF9CA9-5838-4DBE-8291-1B673E3F022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2B5939F-C473-4AFD-98E2-B2BD60ECA50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4311512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Рисунок 4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B3975F7-A742-4C13-9284-10F671B9208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37726" y="1600200"/>
            <a:ext cx="10465837" cy="720110"/>
          </a:xfrm>
        </p:spPr>
        <p:txBody>
          <a:bodyPr>
            <a:noAutofit/>
          </a:bodyPr>
          <a:lstStyle/>
          <a:p>
            <a:r>
              <a:rPr lang="ru-RU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УП 01. РАЗРАБОТКА ПРОГРАММНЫХ МОДУЛЕЙ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B64C345E-9017-4A12-A00C-EB2B1F0A433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2440377"/>
            <a:ext cx="9144000" cy="438117"/>
          </a:xfrm>
        </p:spPr>
        <p:txBody>
          <a:bodyPr/>
          <a:lstStyle/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Разработка информационной системы «Спортивная школа»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7E0D28E-D526-4503-A305-5D082734B91A}"/>
              </a:ext>
            </a:extLst>
          </p:cNvPr>
          <p:cNvSpPr txBox="1"/>
          <p:nvPr/>
        </p:nvSpPr>
        <p:spPr>
          <a:xfrm>
            <a:off x="7799242" y="5231955"/>
            <a:ext cx="3604321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ru-RU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Выполнили студенты 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группы П-40</a:t>
            </a:r>
          </a:p>
          <a:p>
            <a:pPr algn="r"/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Бычков Д. В</a:t>
            </a:r>
            <a:r>
              <a:rPr lang="ru-RU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 algn="r"/>
            <a:r>
              <a:rPr lang="ru-RU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Денисюк Я. Н.</a:t>
            </a:r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4235440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Объект 2">
            <a:extLst>
              <a:ext uri="{FF2B5EF4-FFF2-40B4-BE49-F238E27FC236}">
                <a16:creationId xmlns:a16="http://schemas.microsoft.com/office/drawing/2014/main" id="{2E75BE80-D6E1-4627-A6B2-8B65B3B069E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1757330"/>
          </a:xfrm>
        </p:spPr>
        <p:txBody>
          <a:bodyPr>
            <a:normAutofit/>
          </a:bodyPr>
          <a:lstStyle/>
          <a:p>
            <a:pPr marL="0" indent="457200" algn="just">
              <a:lnSpc>
                <a:spcPct val="100000"/>
              </a:lnSpc>
              <a:buNone/>
            </a:pPr>
            <a:r>
              <a:rPr lang="ru-RU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Цель практики – сформировать профессиональные навыки для командной и самостоятельной разработки, тестирования и интеграции программных модулей на языке C#.</a:t>
            </a:r>
          </a:p>
        </p:txBody>
      </p:sp>
    </p:spTree>
    <p:extLst>
      <p:ext uri="{BB962C8B-B14F-4D97-AF65-F5344CB8AC3E}">
        <p14:creationId xmlns:p14="http://schemas.microsoft.com/office/powerpoint/2010/main" val="393960475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Рисунок 5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5" name="Объект 2">
            <a:extLst>
              <a:ext uri="{FF2B5EF4-FFF2-40B4-BE49-F238E27FC236}">
                <a16:creationId xmlns:a16="http://schemas.microsoft.com/office/drawing/2014/main" id="{A76F85EE-2B16-4F71-9A69-1F21C21A4F90}"/>
              </a:ext>
            </a:extLst>
          </p:cNvPr>
          <p:cNvSpPr txBox="1">
            <a:spLocks/>
          </p:cNvSpPr>
          <p:nvPr/>
        </p:nvSpPr>
        <p:spPr>
          <a:xfrm>
            <a:off x="4042488" y="862341"/>
            <a:ext cx="3431332" cy="671868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457200" algn="just">
              <a:lnSpc>
                <a:spcPct val="100000"/>
              </a:lnSpc>
              <a:buFont typeface="Arial" panose="020B0604020202020204" pitchFamily="34" charset="0"/>
              <a:buNone/>
            </a:pPr>
            <a:r>
              <a:rPr lang="ru-RU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Задачи практики: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7B9B8B2-8DD8-46CF-9603-AAF90F8BA404}"/>
              </a:ext>
            </a:extLst>
          </p:cNvPr>
          <p:cNvSpPr txBox="1"/>
          <p:nvPr/>
        </p:nvSpPr>
        <p:spPr>
          <a:xfrm>
            <a:off x="1475402" y="2034072"/>
            <a:ext cx="4282752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 Разработка программного обеспечения на </a:t>
            </a:r>
            <a:r>
              <a:rPr lang="en-US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C#</a:t>
            </a:r>
            <a:endParaRPr lang="ru-RU" sz="2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ru-RU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8BED4FD-ADE9-466D-9070-9EF94C5452F9}"/>
              </a:ext>
            </a:extLst>
          </p:cNvPr>
          <p:cNvSpPr txBox="1"/>
          <p:nvPr/>
        </p:nvSpPr>
        <p:spPr>
          <a:xfrm>
            <a:off x="6095999" y="2034073"/>
            <a:ext cx="4673083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2. Тестирование программного обеспечения</a:t>
            </a:r>
            <a:r>
              <a:rPr lang="en-US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на </a:t>
            </a:r>
            <a:r>
              <a:rPr lang="en-US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C#</a:t>
            </a:r>
            <a:endParaRPr lang="ru-RU" sz="2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ru-RU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CDC6B7E-A072-46E5-850F-7823110E54C2}"/>
              </a:ext>
            </a:extLst>
          </p:cNvPr>
          <p:cNvSpPr txBox="1"/>
          <p:nvPr/>
        </p:nvSpPr>
        <p:spPr>
          <a:xfrm>
            <a:off x="4121797" y="3884759"/>
            <a:ext cx="3948404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3. Работа с различными источниками и представлениями данных</a:t>
            </a:r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69323082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Рисунок 5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" name="Объект 2">
            <a:extLst>
              <a:ext uri="{FF2B5EF4-FFF2-40B4-BE49-F238E27FC236}">
                <a16:creationId xmlns:a16="http://schemas.microsoft.com/office/drawing/2014/main" id="{6A89CA2E-6030-4628-ABEC-F74BA25F0034}"/>
              </a:ext>
            </a:extLst>
          </p:cNvPr>
          <p:cNvSpPr txBox="1">
            <a:spLocks/>
          </p:cNvSpPr>
          <p:nvPr/>
        </p:nvSpPr>
        <p:spPr>
          <a:xfrm>
            <a:off x="838200" y="718393"/>
            <a:ext cx="10515600" cy="67186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457200" algn="just">
              <a:lnSpc>
                <a:spcPct val="100000"/>
              </a:lnSpc>
              <a:buFont typeface="Arial" panose="020B0604020202020204" pitchFamily="34" charset="0"/>
              <a:buNone/>
            </a:pPr>
            <a:r>
              <a:rPr lang="ru-RU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Введение в предметную область:</a:t>
            </a:r>
          </a:p>
        </p:txBody>
      </p:sp>
      <p:sp>
        <p:nvSpPr>
          <p:cNvPr id="5" name="Объект 2">
            <a:extLst>
              <a:ext uri="{FF2B5EF4-FFF2-40B4-BE49-F238E27FC236}">
                <a16:creationId xmlns:a16="http://schemas.microsoft.com/office/drawing/2014/main" id="{507EFDA9-805D-4EE8-88AD-E9FDA0FA1D51}"/>
              </a:ext>
            </a:extLst>
          </p:cNvPr>
          <p:cNvSpPr txBox="1">
            <a:spLocks/>
          </p:cNvSpPr>
          <p:nvPr/>
        </p:nvSpPr>
        <p:spPr>
          <a:xfrm>
            <a:off x="838200" y="1495943"/>
            <a:ext cx="10515600" cy="2264293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457200" algn="just">
              <a:lnSpc>
                <a:spcPct val="100000"/>
              </a:lnSpc>
              <a:buNone/>
            </a:pPr>
            <a:r>
              <a:rPr lang="ru-RU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Разработка данного ПО направлена на создание функциональных компонентов для автоматизации бизнес-процессов, таких как управление данными в спортивной школе — учет учеников, тренеров, инвентаря и поиск по этим сущностям.</a:t>
            </a:r>
          </a:p>
        </p:txBody>
      </p:sp>
    </p:spTree>
    <p:extLst>
      <p:ext uri="{BB962C8B-B14F-4D97-AF65-F5344CB8AC3E}">
        <p14:creationId xmlns:p14="http://schemas.microsoft.com/office/powerpoint/2010/main" val="141746407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Рисунок 5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" name="Объект 2">
            <a:extLst>
              <a:ext uri="{FF2B5EF4-FFF2-40B4-BE49-F238E27FC236}">
                <a16:creationId xmlns:a16="http://schemas.microsoft.com/office/drawing/2014/main" id="{90C478DF-5154-4D46-B2FD-F47968A8909B}"/>
              </a:ext>
            </a:extLst>
          </p:cNvPr>
          <p:cNvSpPr txBox="1">
            <a:spLocks/>
          </p:cNvSpPr>
          <p:nvPr/>
        </p:nvSpPr>
        <p:spPr>
          <a:xfrm>
            <a:off x="838200" y="793037"/>
            <a:ext cx="10515600" cy="67186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457200" algn="just">
              <a:lnSpc>
                <a:spcPct val="100000"/>
              </a:lnSpc>
              <a:buFont typeface="Arial" panose="020B0604020202020204" pitchFamily="34" charset="0"/>
              <a:buNone/>
            </a:pPr>
            <a:r>
              <a:rPr lang="ru-RU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Решённые задачи в рамках разработки приложения:</a:t>
            </a:r>
          </a:p>
        </p:txBody>
      </p:sp>
      <p:sp>
        <p:nvSpPr>
          <p:cNvPr id="5" name="Объект 2">
            <a:extLst>
              <a:ext uri="{FF2B5EF4-FFF2-40B4-BE49-F238E27FC236}">
                <a16:creationId xmlns:a16="http://schemas.microsoft.com/office/drawing/2014/main" id="{07BC78F6-4C76-4B98-8001-300B6E42D29C}"/>
              </a:ext>
            </a:extLst>
          </p:cNvPr>
          <p:cNvSpPr txBox="1">
            <a:spLocks/>
          </p:cNvSpPr>
          <p:nvPr/>
        </p:nvSpPr>
        <p:spPr>
          <a:xfrm>
            <a:off x="838200" y="1626571"/>
            <a:ext cx="10515600" cy="351459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514350" indent="-514350" algn="just">
              <a:lnSpc>
                <a:spcPct val="100000"/>
              </a:lnSpc>
              <a:buFont typeface="+mj-lt"/>
              <a:buAutoNum type="arabicPeriod"/>
            </a:pPr>
            <a:r>
              <a:rPr lang="ru-RU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добавление учеников, тренеров и инвентаря;</a:t>
            </a:r>
          </a:p>
          <a:p>
            <a:pPr marL="514350" indent="-514350" algn="just">
              <a:lnSpc>
                <a:spcPct val="100000"/>
              </a:lnSpc>
              <a:buFont typeface="+mj-lt"/>
              <a:buAutoNum type="arabicPeriod"/>
            </a:pPr>
            <a:r>
              <a:rPr lang="ru-RU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тестирование добавлений;</a:t>
            </a:r>
          </a:p>
          <a:p>
            <a:pPr marL="514350" indent="-514350" algn="just">
              <a:lnSpc>
                <a:spcPct val="100000"/>
              </a:lnSpc>
              <a:buFont typeface="+mj-lt"/>
              <a:buAutoNum type="arabicPeriod"/>
            </a:pPr>
            <a:r>
              <a:rPr lang="ru-RU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редактирование и списание инвентаря;</a:t>
            </a:r>
          </a:p>
          <a:p>
            <a:pPr marL="514350" indent="-514350" algn="just">
              <a:lnSpc>
                <a:spcPct val="100000"/>
              </a:lnSpc>
              <a:buFont typeface="+mj-lt"/>
              <a:buAutoNum type="arabicPeriod"/>
            </a:pPr>
            <a:r>
              <a:rPr lang="ru-RU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реализация </a:t>
            </a:r>
            <a:r>
              <a:rPr lang="en-US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GUI</a:t>
            </a:r>
            <a:r>
              <a:rPr lang="ru-RU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;</a:t>
            </a:r>
          </a:p>
          <a:p>
            <a:pPr marL="514350" indent="-514350" algn="just">
              <a:lnSpc>
                <a:spcPct val="100000"/>
              </a:lnSpc>
              <a:buFont typeface="+mj-lt"/>
              <a:buAutoNum type="arabicPeriod"/>
            </a:pPr>
            <a:r>
              <a:rPr lang="ru-RU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реализация поиска.</a:t>
            </a:r>
          </a:p>
          <a:p>
            <a:pPr marL="514350" indent="-514350" algn="just">
              <a:lnSpc>
                <a:spcPct val="100000"/>
              </a:lnSpc>
              <a:buFont typeface="+mj-lt"/>
              <a:buAutoNum type="arabicPeriod"/>
            </a:pPr>
            <a:endParaRPr lang="ru-RU" sz="2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0325441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Объект 2">
            <a:extLst>
              <a:ext uri="{FF2B5EF4-FFF2-40B4-BE49-F238E27FC236}">
                <a16:creationId xmlns:a16="http://schemas.microsoft.com/office/drawing/2014/main" id="{F3058F4F-F8F8-47E2-A933-360186DD8A38}"/>
              </a:ext>
            </a:extLst>
          </p:cNvPr>
          <p:cNvSpPr txBox="1">
            <a:spLocks/>
          </p:cNvSpPr>
          <p:nvPr/>
        </p:nvSpPr>
        <p:spPr>
          <a:xfrm>
            <a:off x="838200" y="793037"/>
            <a:ext cx="10515600" cy="67186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457200" algn="just">
              <a:lnSpc>
                <a:spcPct val="100000"/>
              </a:lnSpc>
              <a:buFont typeface="Arial" panose="020B0604020202020204" pitchFamily="34" charset="0"/>
              <a:buNone/>
            </a:pPr>
            <a:r>
              <a:rPr lang="ru-RU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Возникшие проблемы: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260E5211-80EC-49A7-A788-0B9582AFF050}"/>
              </a:ext>
            </a:extLst>
          </p:cNvPr>
          <p:cNvSpPr txBox="1">
            <a:spLocks/>
          </p:cNvSpPr>
          <p:nvPr/>
        </p:nvSpPr>
        <p:spPr>
          <a:xfrm>
            <a:off x="838200" y="1626571"/>
            <a:ext cx="10515600" cy="351459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514350" indent="-514350" algn="just">
              <a:lnSpc>
                <a:spcPct val="100000"/>
              </a:lnSpc>
              <a:buFont typeface="+mj-lt"/>
              <a:buAutoNum type="arabicPeriod"/>
            </a:pPr>
            <a:r>
              <a:rPr lang="ru-RU" sz="2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необновляемость</a:t>
            </a:r>
            <a:r>
              <a:rPr lang="ru-RU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данных при их редактировании;</a:t>
            </a:r>
          </a:p>
          <a:p>
            <a:pPr marL="514350" indent="-514350" algn="just">
              <a:lnSpc>
                <a:spcPct val="100000"/>
              </a:lnSpc>
              <a:buFont typeface="+mj-lt"/>
              <a:buAutoNum type="arabicPeriod"/>
            </a:pPr>
            <a:r>
              <a:rPr lang="ru-RU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ограничение платформы </a:t>
            </a:r>
            <a:r>
              <a:rPr lang="en-US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WinForms</a:t>
            </a:r>
            <a:r>
              <a:rPr lang="ru-RU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– невозможность скрыть текущую выбранную строку в </a:t>
            </a:r>
            <a:r>
              <a:rPr lang="ru-RU" sz="2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DataGridView</a:t>
            </a:r>
            <a:r>
              <a:rPr lang="ru-RU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при использовании привязки данных;</a:t>
            </a:r>
          </a:p>
        </p:txBody>
      </p:sp>
    </p:spTree>
    <p:extLst>
      <p:ext uri="{BB962C8B-B14F-4D97-AF65-F5344CB8AC3E}">
        <p14:creationId xmlns:p14="http://schemas.microsoft.com/office/powerpoint/2010/main" val="56568023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Рисунок 5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Объект 2">
            <a:extLst>
              <a:ext uri="{FF2B5EF4-FFF2-40B4-BE49-F238E27FC236}">
                <a16:creationId xmlns:a16="http://schemas.microsoft.com/office/drawing/2014/main" id="{3F441AA8-D151-4C26-8360-7F6F909F3D2A}"/>
              </a:ext>
            </a:extLst>
          </p:cNvPr>
          <p:cNvSpPr txBox="1">
            <a:spLocks/>
          </p:cNvSpPr>
          <p:nvPr/>
        </p:nvSpPr>
        <p:spPr>
          <a:xfrm>
            <a:off x="838200" y="203525"/>
            <a:ext cx="10515600" cy="67186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457200" algn="just">
              <a:lnSpc>
                <a:spcPct val="100000"/>
              </a:lnSpc>
              <a:buFont typeface="Arial" panose="020B0604020202020204" pitchFamily="34" charset="0"/>
              <a:buNone/>
            </a:pPr>
            <a:r>
              <a:rPr lang="ru-RU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Открытия: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15BDB563-EBA6-4E39-A6FF-885ABFE4A276}"/>
              </a:ext>
            </a:extLst>
          </p:cNvPr>
          <p:cNvSpPr txBox="1">
            <a:spLocks/>
          </p:cNvSpPr>
          <p:nvPr/>
        </p:nvSpPr>
        <p:spPr>
          <a:xfrm>
            <a:off x="838200" y="875393"/>
            <a:ext cx="10515600" cy="1881739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514350" indent="-514350" algn="just">
              <a:lnSpc>
                <a:spcPct val="100000"/>
              </a:lnSpc>
              <a:buFont typeface="+mj-lt"/>
              <a:buAutoNum type="arabicPeriod"/>
            </a:pPr>
            <a:r>
              <a:rPr lang="ru-RU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новый элемент управления (</a:t>
            </a:r>
            <a:r>
              <a:rPr lang="en-US" sz="2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splitContainer</a:t>
            </a:r>
            <a:r>
              <a:rPr lang="ru-RU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);</a:t>
            </a:r>
          </a:p>
          <a:p>
            <a:pPr marL="514350" indent="-514350" algn="just">
              <a:lnSpc>
                <a:spcPct val="100000"/>
              </a:lnSpc>
              <a:buFont typeface="+mj-lt"/>
              <a:buAutoNum type="arabicPeriod"/>
            </a:pPr>
            <a:r>
              <a:rPr kumimoji="0" lang="ru-RU" altLang="ru-RU" sz="2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свойство </a:t>
            </a:r>
            <a:r>
              <a:rPr kumimoji="0" lang="ru-RU" altLang="ru-RU" sz="2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Control.Controls</a:t>
            </a:r>
            <a:r>
              <a:rPr lang="ru-RU" altLang="ru-RU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представляющее собой коллекцию дочерних элементов управления. Это позволило динамически управлять интерфейсом.</a:t>
            </a:r>
            <a:endParaRPr kumimoji="0" lang="ru-RU" altLang="ru-RU" sz="2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Объект 2">
            <a:extLst>
              <a:ext uri="{FF2B5EF4-FFF2-40B4-BE49-F238E27FC236}">
                <a16:creationId xmlns:a16="http://schemas.microsoft.com/office/drawing/2014/main" id="{BC03199A-E484-4B43-9A8C-3F749F98006C}"/>
              </a:ext>
            </a:extLst>
          </p:cNvPr>
          <p:cNvSpPr txBox="1">
            <a:spLocks/>
          </p:cNvSpPr>
          <p:nvPr/>
        </p:nvSpPr>
        <p:spPr>
          <a:xfrm>
            <a:off x="838200" y="2943808"/>
            <a:ext cx="10515600" cy="67186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457200" algn="just">
              <a:lnSpc>
                <a:spcPct val="100000"/>
              </a:lnSpc>
              <a:buFont typeface="Arial" panose="020B0604020202020204" pitchFamily="34" charset="0"/>
              <a:buNone/>
            </a:pPr>
            <a:r>
              <a:rPr lang="ru-RU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Успехи:</a:t>
            </a:r>
          </a:p>
        </p:txBody>
      </p:sp>
      <p:sp>
        <p:nvSpPr>
          <p:cNvPr id="8" name="Объект 2">
            <a:extLst>
              <a:ext uri="{FF2B5EF4-FFF2-40B4-BE49-F238E27FC236}">
                <a16:creationId xmlns:a16="http://schemas.microsoft.com/office/drawing/2014/main" id="{6900B104-FC1F-4D30-947A-E1076954637B}"/>
              </a:ext>
            </a:extLst>
          </p:cNvPr>
          <p:cNvSpPr txBox="1">
            <a:spLocks/>
          </p:cNvSpPr>
          <p:nvPr/>
        </p:nvSpPr>
        <p:spPr>
          <a:xfrm>
            <a:off x="838200" y="3615676"/>
            <a:ext cx="10515600" cy="2897091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514350" indent="-514350" algn="just">
              <a:lnSpc>
                <a:spcPct val="100000"/>
              </a:lnSpc>
              <a:buFont typeface="+mj-lt"/>
              <a:buAutoNum type="arabicPeriod"/>
            </a:pPr>
            <a:r>
              <a:rPr lang="ru-RU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решены возникшие проблемы;</a:t>
            </a:r>
          </a:p>
          <a:p>
            <a:pPr marL="514350" indent="-514350" algn="just">
              <a:lnSpc>
                <a:spcPct val="100000"/>
              </a:lnSpc>
              <a:buFont typeface="+mj-lt"/>
              <a:buAutoNum type="arabicPeriod"/>
            </a:pPr>
            <a:r>
              <a:rPr lang="ru-RU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приобретены новые знания;</a:t>
            </a:r>
          </a:p>
          <a:p>
            <a:pPr marL="514350" indent="-514350" algn="just">
              <a:lnSpc>
                <a:spcPct val="100000"/>
              </a:lnSpc>
              <a:buFont typeface="+mj-lt"/>
              <a:buAutoNum type="arabicPeriod"/>
            </a:pPr>
            <a:r>
              <a:rPr lang="ru-RU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разработан работающий прототип, который уже можно демонстрировать потенциальным заказчикам;</a:t>
            </a:r>
          </a:p>
          <a:p>
            <a:pPr marL="514350" indent="-514350" algn="just">
              <a:lnSpc>
                <a:spcPct val="100000"/>
              </a:lnSpc>
              <a:buFont typeface="+mj-lt"/>
              <a:buAutoNum type="arabicPeriod"/>
            </a:pPr>
            <a:r>
              <a:rPr lang="ru-RU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интегрированы различные технологии в единую систему (</a:t>
            </a:r>
            <a:r>
              <a:rPr lang="en-US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WinForms + MySQL + Entity Framework</a:t>
            </a:r>
            <a:r>
              <a:rPr lang="ru-RU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и </a:t>
            </a:r>
            <a:r>
              <a:rPr lang="en-US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MS Test + Mock-</a:t>
            </a:r>
            <a:r>
              <a:rPr lang="ru-RU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объекты).</a:t>
            </a:r>
          </a:p>
        </p:txBody>
      </p:sp>
    </p:spTree>
    <p:extLst>
      <p:ext uri="{BB962C8B-B14F-4D97-AF65-F5344CB8AC3E}">
        <p14:creationId xmlns:p14="http://schemas.microsoft.com/office/powerpoint/2010/main" val="163495571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Рисунок 4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Объект 2">
            <a:extLst>
              <a:ext uri="{FF2B5EF4-FFF2-40B4-BE49-F238E27FC236}">
                <a16:creationId xmlns:a16="http://schemas.microsoft.com/office/drawing/2014/main" id="{9349A9BC-7F75-40F0-AC5A-882549CAF59B}"/>
              </a:ext>
            </a:extLst>
          </p:cNvPr>
          <p:cNvSpPr txBox="1">
            <a:spLocks/>
          </p:cNvSpPr>
          <p:nvPr/>
        </p:nvSpPr>
        <p:spPr>
          <a:xfrm>
            <a:off x="838200" y="793037"/>
            <a:ext cx="10515600" cy="67186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457200" algn="just">
              <a:lnSpc>
                <a:spcPct val="100000"/>
              </a:lnSpc>
              <a:buFont typeface="Arial" panose="020B0604020202020204" pitchFamily="34" charset="0"/>
              <a:buNone/>
            </a:pPr>
            <a:r>
              <a:rPr lang="ru-RU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Анализ полученного опыта:</a:t>
            </a:r>
          </a:p>
        </p:txBody>
      </p:sp>
      <p:sp>
        <p:nvSpPr>
          <p:cNvPr id="4" name="Объект 2">
            <a:extLst>
              <a:ext uri="{FF2B5EF4-FFF2-40B4-BE49-F238E27FC236}">
                <a16:creationId xmlns:a16="http://schemas.microsoft.com/office/drawing/2014/main" id="{4389F223-209E-4725-9127-21D3ABBEA3CE}"/>
              </a:ext>
            </a:extLst>
          </p:cNvPr>
          <p:cNvSpPr txBox="1">
            <a:spLocks/>
          </p:cNvSpPr>
          <p:nvPr/>
        </p:nvSpPr>
        <p:spPr>
          <a:xfrm>
            <a:off x="838200" y="1495942"/>
            <a:ext cx="10515600" cy="3467943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457200" algn="just">
              <a:lnSpc>
                <a:spcPct val="100000"/>
              </a:lnSpc>
              <a:buNone/>
            </a:pPr>
            <a:r>
              <a:rPr lang="ru-RU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В ходе практики были успешно достигнуты основные цели: разработано функциональное приложение на C# и получен опыт работы с источником данных, таким как </a:t>
            </a:r>
            <a:r>
              <a:rPr lang="en-US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MySQL</a:t>
            </a:r>
            <a:r>
              <a:rPr lang="ru-RU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Были решены проблемы разработки и был расширен технический кругозор, что углубило понимание инструментов разработки. Готовый к демонстрации прототип показал, что проект имеет практическое применение, а его разработка потребовала объединения разных технологий в слаженно работающую систему.</a:t>
            </a:r>
          </a:p>
        </p:txBody>
      </p:sp>
    </p:spTree>
    <p:extLst>
      <p:ext uri="{BB962C8B-B14F-4D97-AF65-F5344CB8AC3E}">
        <p14:creationId xmlns:p14="http://schemas.microsoft.com/office/powerpoint/2010/main" val="77727587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Объект 2">
            <a:extLst>
              <a:ext uri="{FF2B5EF4-FFF2-40B4-BE49-F238E27FC236}">
                <a16:creationId xmlns:a16="http://schemas.microsoft.com/office/drawing/2014/main" id="{28B6D561-EF05-49DD-8611-4B80A6A88486}"/>
              </a:ext>
            </a:extLst>
          </p:cNvPr>
          <p:cNvSpPr txBox="1">
            <a:spLocks/>
          </p:cNvSpPr>
          <p:nvPr/>
        </p:nvSpPr>
        <p:spPr>
          <a:xfrm>
            <a:off x="838200" y="793037"/>
            <a:ext cx="10515600" cy="67186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457200" algn="just">
              <a:lnSpc>
                <a:spcPct val="100000"/>
              </a:lnSpc>
              <a:buFont typeface="Arial" panose="020B0604020202020204" pitchFamily="34" charset="0"/>
              <a:buNone/>
            </a:pPr>
            <a:r>
              <a:rPr lang="ru-RU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Перспективы развития решения: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778EC353-2D06-464B-AB93-A71A04AB3806}"/>
              </a:ext>
            </a:extLst>
          </p:cNvPr>
          <p:cNvSpPr txBox="1">
            <a:spLocks/>
          </p:cNvSpPr>
          <p:nvPr/>
        </p:nvSpPr>
        <p:spPr>
          <a:xfrm>
            <a:off x="838200" y="1626571"/>
            <a:ext cx="10515600" cy="351459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514350" indent="-514350" algn="just">
              <a:lnSpc>
                <a:spcPct val="100000"/>
              </a:lnSpc>
              <a:buFont typeface="+mj-lt"/>
              <a:buAutoNum type="arabicPeriod"/>
            </a:pPr>
            <a:r>
              <a:rPr lang="ru-RU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доработка основных функций для разделов «Тренеры» и «Учащиеся»;</a:t>
            </a:r>
          </a:p>
          <a:p>
            <a:pPr marL="514350" indent="-514350" algn="just">
              <a:lnSpc>
                <a:spcPct val="100000"/>
              </a:lnSpc>
              <a:buFont typeface="+mj-lt"/>
              <a:buAutoNum type="arabicPeriod"/>
            </a:pPr>
            <a:r>
              <a:rPr lang="ru-RU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добавление систем фильтрации во все разделы;</a:t>
            </a:r>
          </a:p>
          <a:p>
            <a:pPr marL="514350" indent="-514350" algn="just">
              <a:lnSpc>
                <a:spcPct val="100000"/>
              </a:lnSpc>
              <a:buFont typeface="+mj-lt"/>
              <a:buAutoNum type="arabicPeriod"/>
            </a:pPr>
            <a:r>
              <a:rPr lang="ru-RU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создание форм отчётов и их экспорт;</a:t>
            </a:r>
          </a:p>
          <a:p>
            <a:pPr marL="514350" indent="-514350" algn="just">
              <a:lnSpc>
                <a:spcPct val="100000"/>
              </a:lnSpc>
              <a:buFont typeface="+mj-lt"/>
              <a:buAutoNum type="arabicPeriod"/>
            </a:pPr>
            <a:r>
              <a:rPr lang="ru-RU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автоматическое резервное копирование БД;</a:t>
            </a:r>
          </a:p>
          <a:p>
            <a:pPr marL="514350" indent="-514350" algn="just">
              <a:lnSpc>
                <a:spcPct val="100000"/>
              </a:lnSpc>
              <a:buFont typeface="+mj-lt"/>
              <a:buAutoNum type="arabicPeriod"/>
            </a:pPr>
            <a:r>
              <a:rPr lang="ru-RU" sz="2600">
                <a:latin typeface="Times New Roman" panose="02020603050405020304" pitchFamily="18" charset="0"/>
                <a:cs typeface="Times New Roman" panose="02020603050405020304" pitchFamily="18" charset="0"/>
              </a:rPr>
              <a:t>Добавление пользовательских </a:t>
            </a:r>
            <a:r>
              <a:rPr lang="ru-RU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настроек.</a:t>
            </a:r>
          </a:p>
        </p:txBody>
      </p:sp>
    </p:spTree>
    <p:extLst>
      <p:ext uri="{BB962C8B-B14F-4D97-AF65-F5344CB8AC3E}">
        <p14:creationId xmlns:p14="http://schemas.microsoft.com/office/powerpoint/2010/main" val="187073104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Объект 2">
            <a:extLst>
              <a:ext uri="{FF2B5EF4-FFF2-40B4-BE49-F238E27FC236}">
                <a16:creationId xmlns:a16="http://schemas.microsoft.com/office/drawing/2014/main" id="{34FC0A6D-B332-46E4-BAD4-07EBB86CDD6E}"/>
              </a:ext>
            </a:extLst>
          </p:cNvPr>
          <p:cNvSpPr txBox="1">
            <a:spLocks/>
          </p:cNvSpPr>
          <p:nvPr/>
        </p:nvSpPr>
        <p:spPr>
          <a:xfrm>
            <a:off x="2877911" y="2757132"/>
            <a:ext cx="6436178" cy="67186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457200" algn="just">
              <a:lnSpc>
                <a:spcPct val="100000"/>
              </a:lnSpc>
              <a:buFont typeface="Arial" panose="020B0604020202020204" pitchFamily="34" charset="0"/>
              <a:buNone/>
            </a:pPr>
            <a:r>
              <a:rPr lang="ru-RU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Спасибо за внимание!</a:t>
            </a:r>
          </a:p>
        </p:txBody>
      </p:sp>
    </p:spTree>
    <p:extLst>
      <p:ext uri="{BB962C8B-B14F-4D97-AF65-F5344CB8AC3E}">
        <p14:creationId xmlns:p14="http://schemas.microsoft.com/office/powerpoint/2010/main" val="123341251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254</TotalTime>
  <Words>345</Words>
  <Application>Microsoft Office PowerPoint</Application>
  <PresentationFormat>Широкоэкранный</PresentationFormat>
  <Paragraphs>38</Paragraphs>
  <Slides>10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10</vt:i4>
      </vt:variant>
    </vt:vector>
  </HeadingPairs>
  <TitlesOfParts>
    <vt:vector size="15" baseType="lpstr">
      <vt:lpstr>Arial</vt:lpstr>
      <vt:lpstr>Calibri</vt:lpstr>
      <vt:lpstr>Calibri Light</vt:lpstr>
      <vt:lpstr>Times New Roman</vt:lpstr>
      <vt:lpstr>Тема Office</vt:lpstr>
      <vt:lpstr>УП 01. РАЗРАБОТКА ПРОГРАММНЫХ МОДУЛЕЙ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УП 01. РАЗРАБОТКА ПРОГРАММНЫХ МОДУЛЕЙ</dc:title>
  <dc:creator>who you</dc:creator>
  <cp:lastModifiedBy>Студент каб 53</cp:lastModifiedBy>
  <cp:revision>24</cp:revision>
  <dcterms:created xsi:type="dcterms:W3CDTF">2025-11-27T16:30:02Z</dcterms:created>
  <dcterms:modified xsi:type="dcterms:W3CDTF">2025-11-28T05:27:38Z</dcterms:modified>
</cp:coreProperties>
</file>